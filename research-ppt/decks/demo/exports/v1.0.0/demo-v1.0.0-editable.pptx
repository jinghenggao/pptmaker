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comment block of each slide will be treated as slide notes. It will be visible and editable in Presenter Mode along with the slide. [Read more in the docs](https://sli.dev/guide/syntax.html#notes)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another comment.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with **bold**, *italic*, and ~~strike~~ text.
Also, HTML elements are valid:
&lt;div class="flex w-full"&gt;
  &lt;span style="flex-grow: 1;"&gt;Left content&lt;/span&gt;
  &lt;span&gt;Right content&lt;/span&gt;
&lt;/div&gt;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li.dev/guide/why" TargetMode="Externa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12445/print?print=true#/1" TargetMode="External"/><Relationship Id="rId2" Type="http://schemas.openxmlformats.org/officeDocument/2006/relationships/hyperlink" Target="http://localhost:12445/print?print=true#/2" TargetMode="External"/><Relationship Id="rId3" Type="http://schemas.openxmlformats.org/officeDocument/2006/relationships/hyperlink" Target="http://localhost:12445/print?print=true#/3" TargetMode="External"/><Relationship Id="rId4" Type="http://schemas.openxmlformats.org/officeDocument/2006/relationships/hyperlink" Target="http://localhost:12445/print?print=true#/5" TargetMode="External"/><Relationship Id="rId5" Type="http://schemas.openxmlformats.org/officeDocument/2006/relationships/hyperlink" Target="http://localhost:12445/print?print=true#/6" TargetMode="External"/><Relationship Id="rId6" Type="http://schemas.openxmlformats.org/officeDocument/2006/relationships/hyperlink" Target="http://localhost:12445/print?print=true#/7" TargetMode="External"/><Relationship Id="rId7" Type="http://schemas.openxmlformats.org/officeDocument/2006/relationships/hyperlink" Target="http://localhost:12445/print?print=true#/8" TargetMode="External"/><Relationship Id="rId8" Type="http://schemas.openxmlformats.org/officeDocument/2006/relationships/hyperlink" Target="http://localhost:12445/print?print=true#/9" TargetMode="External"/><Relationship Id="rId9" Type="http://schemas.openxmlformats.org/officeDocument/2006/relationships/hyperlink" Target="http://localhost:12445/print?print=true#/10" TargetMode="External"/><Relationship Id="rId10" Type="http://schemas.openxmlformats.org/officeDocument/2006/relationships/hyperlink" Target="http://localhost:12445/print?print=true#/11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sli.dev/guide/navigation.html" TargetMode="Externa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sli.dev/builtin/components.html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li.dev/guide/theme-addon#use-theme" TargetMode="External"/><Relationship Id="rId4" Type="http://schemas.openxmlformats.org/officeDocument/2006/relationships/hyperlink" Target="https://sli.dev/resources/theme-gallery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otion.vueuse.org/" TargetMode="Externa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katex.org/" TargetMode="External"/><Relationship Id="rId4" Type="http://schemas.openxmlformats.org/officeDocument/2006/relationships/hyperlink" Target="https://sli.dev/guide/syntax#latex" TargetMode="Externa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hyperlink" Target="https://sli.dev/guide/syntax.html#diagrams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sli.dev/" TargetMode="External"/><Relationship Id="rId2" Type="http://schemas.openxmlformats.org/officeDocument/2006/relationships/hyperlink" Target="https://github.com/slidevjs/slidev" TargetMode="External"/><Relationship Id="rId3" Type="http://schemas.openxmlformats.org/officeDocument/2006/relationships/hyperlink" Target="https://sli.dev/showcases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as an image because of CSS background-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334500" cy="5257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271117" y="1626840"/>
            <a:ext cx="4763542" cy="752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Welcome to Slidev</a:t>
            </a:r>
            <a:endParaRPr lang="en-US" sz="4500" dirty="0"/>
          </a:p>
        </p:txBody>
      </p:sp>
      <p:sp>
        <p:nvSpPr>
          <p:cNvPr id="4" name="Text 1"/>
          <p:cNvSpPr txBox="1"/>
          <p:nvPr/>
        </p:nvSpPr>
        <p:spPr>
          <a:xfrm>
            <a:off x="3353098" y="2465040"/>
            <a:ext cx="262815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FFFFFF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Presentation slides for developers</a:t>
            </a:r>
            <a:endParaRPr lang="en-US" sz="1320" dirty="0"/>
          </a:p>
        </p:txBody>
      </p:sp>
      <p:sp>
        <p:nvSpPr>
          <p:cNvPr id="5" name="Text 2"/>
          <p:cNvSpPr txBox="1"/>
          <p:nvPr/>
        </p:nvSpPr>
        <p:spPr>
          <a:xfrm>
            <a:off x="3632448" y="3350865"/>
            <a:ext cx="199325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Press Space for next page</a:t>
            </a:r>
            <a:endParaRPr lang="en-US" sz="1320" dirty="0"/>
          </a:p>
        </p:txBody>
      </p:sp>
      <p:pic>
        <p:nvPicPr>
          <p:cNvPr id="6" name="Image 1" descr="Rendered as an image because of CSS sv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0" y="472440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as an image because of CSS background-clip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285" y="381000"/>
            <a:ext cx="8284815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838200"/>
            <a:ext cx="8438442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Slidev is a slide maker and accompanying presentation tool designed for developers. It consists of the following features:</a:t>
            </a:r>
            <a:endParaRPr lang="en-US" sz="1320" dirty="0"/>
          </a:p>
        </p:txBody>
      </p:sp>
      <p:sp>
        <p:nvSpPr>
          <p:cNvPr id="4" name="Text 1"/>
          <p:cNvSpPr txBox="1"/>
          <p:nvPr/>
        </p:nvSpPr>
        <p:spPr>
          <a:xfrm>
            <a:off x="516630" y="144780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▪ </a:t>
            </a:r>
            <a:endParaRPr lang="en-US" sz="1320" dirty="0"/>
          </a:p>
        </p:txBody>
      </p:sp>
      <p:sp>
        <p:nvSpPr>
          <p:cNvPr id="5" name="Text 2"/>
          <p:cNvSpPr txBox="1"/>
          <p:nvPr/>
        </p:nvSpPr>
        <p:spPr>
          <a:xfrm>
            <a:off x="751284" y="1485900"/>
            <a:ext cx="578852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📝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Text-based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- focus on the content with Markdown, and apply styles later</a:t>
            </a:r>
            <a:endParaRPr lang="en-US" sz="1320" dirty="0"/>
          </a:p>
        </p:txBody>
      </p:sp>
      <p:sp>
        <p:nvSpPr>
          <p:cNvPr id="6" name="Text 3"/>
          <p:cNvSpPr txBox="1"/>
          <p:nvPr/>
        </p:nvSpPr>
        <p:spPr>
          <a:xfrm>
            <a:off x="516630" y="1749623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▪ </a:t>
            </a:r>
            <a:endParaRPr lang="en-US" sz="1320" dirty="0"/>
          </a:p>
        </p:txBody>
      </p:sp>
      <p:sp>
        <p:nvSpPr>
          <p:cNvPr id="7" name="Text 4"/>
          <p:cNvSpPr txBox="1"/>
          <p:nvPr/>
        </p:nvSpPr>
        <p:spPr>
          <a:xfrm>
            <a:off x="751284" y="1787723"/>
            <a:ext cx="492799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🎨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Themable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- themes can be shared and used as npm packages</a:t>
            </a:r>
            <a:endParaRPr lang="en-US" sz="1320" dirty="0"/>
          </a:p>
        </p:txBody>
      </p:sp>
      <p:sp>
        <p:nvSpPr>
          <p:cNvPr id="8" name="Text 5"/>
          <p:cNvSpPr txBox="1"/>
          <p:nvPr/>
        </p:nvSpPr>
        <p:spPr>
          <a:xfrm>
            <a:off x="516630" y="2051447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▪ </a:t>
            </a:r>
            <a:endParaRPr lang="en-US" sz="1320" dirty="0"/>
          </a:p>
        </p:txBody>
      </p:sp>
      <p:sp>
        <p:nvSpPr>
          <p:cNvPr id="9" name="Text 6"/>
          <p:cNvSpPr txBox="1"/>
          <p:nvPr/>
        </p:nvSpPr>
        <p:spPr>
          <a:xfrm>
            <a:off x="751284" y="2089547"/>
            <a:ext cx="584016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🧑‍💻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Developer Friendly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- code highlighting, live coding with autocompletion</a:t>
            </a:r>
            <a:endParaRPr lang="en-US" sz="1320" dirty="0"/>
          </a:p>
        </p:txBody>
      </p:sp>
      <p:sp>
        <p:nvSpPr>
          <p:cNvPr id="10" name="Text 7"/>
          <p:cNvSpPr txBox="1"/>
          <p:nvPr/>
        </p:nvSpPr>
        <p:spPr>
          <a:xfrm>
            <a:off x="516630" y="235327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▪ </a:t>
            </a:r>
            <a:endParaRPr lang="en-US" sz="1320" dirty="0"/>
          </a:p>
        </p:txBody>
      </p:sp>
      <p:sp>
        <p:nvSpPr>
          <p:cNvPr id="11" name="Text 8"/>
          <p:cNvSpPr txBox="1"/>
          <p:nvPr/>
        </p:nvSpPr>
        <p:spPr>
          <a:xfrm>
            <a:off x="751284" y="2391370"/>
            <a:ext cx="520496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🤹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Interactive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- embedding Vue components to enhance your slides</a:t>
            </a:r>
            <a:endParaRPr lang="en-US" sz="1320" dirty="0"/>
          </a:p>
        </p:txBody>
      </p:sp>
      <p:sp>
        <p:nvSpPr>
          <p:cNvPr id="12" name="Text 9"/>
          <p:cNvSpPr txBox="1"/>
          <p:nvPr/>
        </p:nvSpPr>
        <p:spPr>
          <a:xfrm>
            <a:off x="516630" y="2655094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▪ </a:t>
            </a:r>
            <a:endParaRPr lang="en-US" sz="1320" dirty="0"/>
          </a:p>
        </p:txBody>
      </p:sp>
      <p:sp>
        <p:nvSpPr>
          <p:cNvPr id="13" name="Text 10"/>
          <p:cNvSpPr txBox="1"/>
          <p:nvPr/>
        </p:nvSpPr>
        <p:spPr>
          <a:xfrm>
            <a:off x="751284" y="2693194"/>
            <a:ext cx="393680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🎥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Recording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- built-in recording and camera view</a:t>
            </a:r>
            <a:endParaRPr lang="en-US" sz="1320" dirty="0"/>
          </a:p>
        </p:txBody>
      </p:sp>
      <p:sp>
        <p:nvSpPr>
          <p:cNvPr id="14" name="Text 11"/>
          <p:cNvSpPr txBox="1"/>
          <p:nvPr/>
        </p:nvSpPr>
        <p:spPr>
          <a:xfrm>
            <a:off x="516630" y="2956917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▪ </a:t>
            </a:r>
            <a:endParaRPr lang="en-US" sz="1320" dirty="0"/>
          </a:p>
        </p:txBody>
      </p:sp>
      <p:sp>
        <p:nvSpPr>
          <p:cNvPr id="15" name="Text 12"/>
          <p:cNvSpPr txBox="1"/>
          <p:nvPr/>
        </p:nvSpPr>
        <p:spPr>
          <a:xfrm>
            <a:off x="751284" y="2995017"/>
            <a:ext cx="498336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📤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Portable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- export to PDF, PPTX, PNGs, or even a hostable SPA</a:t>
            </a:r>
            <a:endParaRPr lang="en-US" sz="1320" dirty="0"/>
          </a:p>
        </p:txBody>
      </p:sp>
      <p:sp>
        <p:nvSpPr>
          <p:cNvPr id="16" name="Text 13"/>
          <p:cNvSpPr txBox="1"/>
          <p:nvPr/>
        </p:nvSpPr>
        <p:spPr>
          <a:xfrm>
            <a:off x="516630" y="3258741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▪ </a:t>
            </a:r>
            <a:endParaRPr lang="en-US" sz="1320" dirty="0"/>
          </a:p>
        </p:txBody>
      </p:sp>
      <p:sp>
        <p:nvSpPr>
          <p:cNvPr id="17" name="Text 14"/>
          <p:cNvSpPr txBox="1"/>
          <p:nvPr/>
        </p:nvSpPr>
        <p:spPr>
          <a:xfrm>
            <a:off x="751284" y="3296841"/>
            <a:ext cx="625420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🛠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Hackable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- virtually anything that’s possible on a webpage is possible in Slidev</a:t>
            </a:r>
            <a:endParaRPr lang="en-US" sz="1320" dirty="0"/>
          </a:p>
        </p:txBody>
      </p:sp>
      <p:sp>
        <p:nvSpPr>
          <p:cNvPr id="18" name="Text 15"/>
          <p:cNvSpPr txBox="1"/>
          <p:nvPr/>
        </p:nvSpPr>
        <p:spPr>
          <a:xfrm>
            <a:off x="533400" y="4215705"/>
            <a:ext cx="30067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Read more about Slidev in </a:t>
            </a:r>
            <a:pPr algn="l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Slidev?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42900"/>
            <a:ext cx="2751683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Table of contents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3400" y="914400"/>
            <a:ext cx="8267700" cy="32385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1009650"/>
            <a:ext cx="265256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&lt;</a:t>
            </a:r>
            <a:pPr algn="l" indent="0" marL="0">
              <a:buNone/>
            </a:pPr>
            <a:r>
              <a:rPr lang="en-US" sz="900" dirty="0">
                <a:solidFill>
                  <a:srgbClr val="B31D2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Toc</a:t>
            </a:r>
            <a:pPr algn="l" indent="0" marL="0"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minDepth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=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1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maxDepth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=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1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&gt;&lt;/</a:t>
            </a:r>
            <a:pPr algn="l" indent="0" marL="0">
              <a:buNone/>
            </a:pPr>
            <a:r>
              <a:rPr lang="en-US" sz="900" dirty="0">
                <a:solidFill>
                  <a:srgbClr val="B31D2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Toc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&gt;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16630" y="127635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1. 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694134" y="1314450"/>
            <a:ext cx="14781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Welcome to Slidev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516630" y="1578173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2. 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694134" y="1616273"/>
            <a:ext cx="12501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Slidev?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516630" y="1879997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 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694134" y="1918097"/>
            <a:ext cx="140374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Table of contents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516630" y="218182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4. 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694134" y="2219920"/>
            <a:ext cx="488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516630" y="2483644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5. 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694134" y="2521744"/>
            <a:ext cx="10615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Components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516630" y="2785467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6. </a:t>
            </a:r>
            <a:endParaRPr lang="en-US" sz="1320" dirty="0"/>
          </a:p>
        </p:txBody>
      </p:sp>
      <p:sp>
        <p:nvSpPr>
          <p:cNvPr id="16" name="Text 14"/>
          <p:cNvSpPr txBox="1"/>
          <p:nvPr/>
        </p:nvSpPr>
        <p:spPr>
          <a:xfrm>
            <a:off x="694134" y="2823567"/>
            <a:ext cx="7024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Themes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516630" y="3087291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7. 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694134" y="3125391"/>
            <a:ext cx="9858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Animations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516630" y="3389114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8. </a:t>
            </a:r>
            <a:endParaRPr lang="en-US" sz="1320" dirty="0"/>
          </a:p>
        </p:txBody>
      </p:sp>
      <p:sp>
        <p:nvSpPr>
          <p:cNvPr id="20" name="Text 18"/>
          <p:cNvSpPr txBox="1"/>
          <p:nvPr/>
        </p:nvSpPr>
        <p:spPr>
          <a:xfrm>
            <a:off x="694134" y="3427214"/>
            <a:ext cx="5728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LaTeX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516630" y="3690937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9. </a:t>
            </a:r>
            <a:endParaRPr lang="en-US" sz="1320" dirty="0"/>
          </a:p>
        </p:txBody>
      </p:sp>
      <p:sp>
        <p:nvSpPr>
          <p:cNvPr id="22" name="Text 20"/>
          <p:cNvSpPr txBox="1"/>
          <p:nvPr/>
        </p:nvSpPr>
        <p:spPr>
          <a:xfrm>
            <a:off x="694134" y="3729038"/>
            <a:ext cx="8227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Diagrams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516630" y="3992761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10. </a:t>
            </a:r>
            <a:endParaRPr lang="en-US" sz="1320" dirty="0"/>
          </a:p>
        </p:txBody>
      </p:sp>
      <p:sp>
        <p:nvSpPr>
          <p:cNvPr id="24" name="Text 22"/>
          <p:cNvSpPr txBox="1"/>
          <p:nvPr/>
        </p:nvSpPr>
        <p:spPr>
          <a:xfrm>
            <a:off x="694134" y="4030861"/>
            <a:ext cx="9667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 More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42900"/>
            <a:ext cx="1792932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Navigation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38200"/>
            <a:ext cx="614719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Hover on the bottom-left corner to see the navigation’s control panel, </a:t>
            </a:r>
            <a:pPr algn="l" indent="0" marL="0">
              <a:buNone/>
            </a:pPr>
            <a:r>
              <a:rPr lang="en-US" sz="1320" u="dash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 more</a:t>
            </a:r>
            <a:endParaRPr lang="en-US" sz="132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1428750"/>
            <a:ext cx="258559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Keyboard Shortcuts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33400" y="2014538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2504033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2190750"/>
            <a:ext cx="438150" cy="200025"/>
          </a:xfrm>
          <a:prstGeom prst="roundRect">
            <a:avLst>
              <a:gd name="adj" fmla="val 19048"/>
            </a:avLst>
          </a:prstGeom>
          <a:solidFill>
            <a:srgbClr val="9CA3AF">
              <a:alpha val="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2190750"/>
            <a:ext cx="43815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38225" y="2190750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" y="2371725"/>
            <a:ext cx="438150" cy="19050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" y="2190750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2450" y="2190750"/>
            <a:ext cx="552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right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47750" y="2152650"/>
            <a:ext cx="25345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/ 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186904" y="2190750"/>
            <a:ext cx="438150" cy="200025"/>
          </a:xfrm>
          <a:prstGeom prst="roundRect">
            <a:avLst>
              <a:gd name="adj" fmla="val 19048"/>
            </a:avLst>
          </a:prstGeom>
          <a:solidFill>
            <a:srgbClr val="9CA3AF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6904" y="2190750"/>
            <a:ext cx="43815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15529" y="2190750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86904" y="2371725"/>
            <a:ext cx="438150" cy="19050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86904" y="2190750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29754" y="2190750"/>
            <a:ext cx="552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space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020592" y="2152650"/>
            <a:ext cx="18435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next animation or slide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533400" y="2993529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9600" y="2680246"/>
            <a:ext cx="369689" cy="200025"/>
          </a:xfrm>
          <a:prstGeom prst="roundRect">
            <a:avLst>
              <a:gd name="adj" fmla="val 19048"/>
            </a:avLst>
          </a:prstGeom>
          <a:solidFill>
            <a:srgbClr val="9CA3AF">
              <a:alpha val="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09600" y="2680246"/>
            <a:ext cx="369689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69764" y="2680246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09600" y="2861221"/>
            <a:ext cx="369689" cy="19050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09600" y="2680246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52450" y="2680246"/>
            <a:ext cx="48398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left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79289" y="2642146"/>
            <a:ext cx="25345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/ 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1118443" y="2680246"/>
            <a:ext cx="438150" cy="200025"/>
          </a:xfrm>
          <a:prstGeom prst="roundRect">
            <a:avLst>
              <a:gd name="adj" fmla="val 19048"/>
            </a:avLst>
          </a:prstGeom>
          <a:solidFill>
            <a:srgbClr val="9CA3AF">
              <a:alpha val="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18443" y="2680246"/>
            <a:ext cx="43815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47068" y="2680246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18443" y="2861221"/>
            <a:ext cx="438150" cy="19050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18443" y="2680246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61293" y="2680246"/>
            <a:ext cx="552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shift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56593" y="2680246"/>
            <a:ext cx="438150" cy="200025"/>
          </a:xfrm>
          <a:prstGeom prst="roundRect">
            <a:avLst>
              <a:gd name="adj" fmla="val 19048"/>
            </a:avLst>
          </a:prstGeom>
          <a:solidFill>
            <a:srgbClr val="9CA3AF">
              <a:alpha val="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56593" y="2680246"/>
            <a:ext cx="43815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985218" y="2680246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556593" y="2861221"/>
            <a:ext cx="438150" cy="19050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556593" y="2680246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499443" y="2680246"/>
            <a:ext cx="552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space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020592" y="2642146"/>
            <a:ext cx="215101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previous animation or slide</a:t>
            </a:r>
            <a:endParaRPr lang="en-US" sz="1320" dirty="0"/>
          </a:p>
        </p:txBody>
      </p:sp>
      <p:sp>
        <p:nvSpPr>
          <p:cNvPr id="42" name="Shape 40"/>
          <p:cNvSpPr/>
          <p:nvPr/>
        </p:nvSpPr>
        <p:spPr>
          <a:xfrm>
            <a:off x="533400" y="3483025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" y="3169741"/>
            <a:ext cx="232470" cy="200025"/>
          </a:xfrm>
          <a:prstGeom prst="roundRect">
            <a:avLst>
              <a:gd name="adj" fmla="val 19048"/>
            </a:avLst>
          </a:prstGeom>
          <a:solidFill>
            <a:srgbClr val="9CA3AF">
              <a:alpha val="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09600" y="3169741"/>
            <a:ext cx="23247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2545" y="3169741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9600" y="3350716"/>
            <a:ext cx="232470" cy="19050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9600" y="3169741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52450" y="3169741"/>
            <a:ext cx="34677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up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4020592" y="3131641"/>
            <a:ext cx="114344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previous slide</a:t>
            </a:r>
            <a:endParaRPr lang="en-US" sz="1320" dirty="0"/>
          </a:p>
        </p:txBody>
      </p:sp>
      <p:sp>
        <p:nvSpPr>
          <p:cNvPr id="50" name="Shape 48"/>
          <p:cNvSpPr/>
          <p:nvPr/>
        </p:nvSpPr>
        <p:spPr>
          <a:xfrm>
            <a:off x="533400" y="3972520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" y="3659237"/>
            <a:ext cx="369689" cy="200025"/>
          </a:xfrm>
          <a:prstGeom prst="roundRect">
            <a:avLst>
              <a:gd name="adj" fmla="val 19048"/>
            </a:avLst>
          </a:prstGeom>
          <a:solidFill>
            <a:srgbClr val="9CA3AF">
              <a:alpha val="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09600" y="3659237"/>
            <a:ext cx="369689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69764" y="3659237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09600" y="3840212"/>
            <a:ext cx="369689" cy="19050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" y="3659237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52450" y="3659237"/>
            <a:ext cx="48398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down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4020592" y="3621137"/>
            <a:ext cx="83611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next slide</a:t>
            </a:r>
            <a:endParaRPr lang="en-US" sz="132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2"/>
          <a:srcRect l="8750" r="0" t="0" b="18543"/>
          <a:stretch/>
        </p:blipFill>
        <p:spPr>
          <a:xfrm>
            <a:off x="0" y="3751511"/>
            <a:ext cx="2781300" cy="1506289"/>
          </a:xfrm>
          <a:prstGeom prst="rect">
            <a:avLst/>
          </a:prstGeom>
        </p:spPr>
      </p:pic>
      <p:pic>
        <p:nvPicPr>
          <p:cNvPr id="59" name="Image 1" descr="Rendered as an image because of CSS transfo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767" y="3966637"/>
            <a:ext cx="443488" cy="2963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42900"/>
            <a:ext cx="879425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Code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38200"/>
            <a:ext cx="36195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 code snippets and get automatic highlighting, and even types hover!</a:t>
            </a:r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^1</a:t>
            </a:r>
            <a:endParaRPr lang="en-US" sz="1320" dirty="0"/>
          </a:p>
        </p:txBody>
      </p:sp>
      <p:sp>
        <p:nvSpPr>
          <p:cNvPr id="4" name="Shape 2"/>
          <p:cNvSpPr/>
          <p:nvPr/>
        </p:nvSpPr>
        <p:spPr>
          <a:xfrm>
            <a:off x="533400" y="1447800"/>
            <a:ext cx="3600450" cy="2236291"/>
          </a:xfrm>
          <a:prstGeom prst="roundRect">
            <a:avLst>
              <a:gd name="adj" fmla="val 1704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3299371"/>
            <a:ext cx="4371975" cy="285750"/>
          </a:xfrm>
          <a:prstGeom prst="rect">
            <a:avLst/>
          </a:prstGeom>
          <a:solidFill>
            <a:srgbClr val="D45656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3299371"/>
            <a:ext cx="28575" cy="285750"/>
          </a:xfrm>
          <a:prstGeom prst="rect">
            <a:avLst/>
          </a:prstGeom>
          <a:solidFill>
            <a:srgbClr val="D45656"/>
          </a:solidFill>
          <a:ln/>
        </p:spPr>
      </p:sp>
      <p:pic>
        <p:nvPicPr>
          <p:cNvPr id="7" name="Image 0" descr="Rendered as an image because of CSS background-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329" y="3114675"/>
            <a:ext cx="342900" cy="152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2475" y="3375571"/>
            <a:ext cx="42291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45656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Cannot assign to 'value' because it is a read-only property.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09600" y="1543050"/>
            <a:ext cx="3467100" cy="1704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0ADA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// TwoSlash enables TypeScript hover information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0ADA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// and errors in markdown code blocks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0ADA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// More at https://shiki.style/packages/twoslash</a:t>
            </a:r>
            <a:br/>
            <a:pPr algn="l" indent="0" marL="0">
              <a:lnSpc>
                <a:spcPts val="1350"/>
              </a:lnSpc>
              <a:buNone/>
            </a:pP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754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import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{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computed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,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ref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}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754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from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'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vue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'</a:t>
            </a:r>
            <a:br/>
            <a:pPr algn="l" indent="0" marL="0">
              <a:lnSpc>
                <a:spcPts val="1350"/>
              </a:lnSpc>
              <a:buNone/>
            </a:pP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B5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const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count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=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ref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(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F798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0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)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B5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const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doubled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=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computed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(()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=&gt;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count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.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value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B5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*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F798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2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)</a:t>
            </a:r>
            <a:br/>
            <a:pPr algn="l" indent="0" marL="0">
              <a:lnSpc>
                <a:spcPts val="1350"/>
              </a:lnSpc>
              <a:buNone/>
            </a:pP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doubled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.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=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F798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2</a:t>
            </a:r>
            <a:endParaRPr lang="en-US" sz="900" dirty="0"/>
          </a:p>
        </p:txBody>
      </p:sp>
      <p:pic>
        <p:nvPicPr>
          <p:cNvPr id="10" name="Image 1" descr="Rendered as an image because of CSS background-im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0"/>
            <a:ext cx="466725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42900"/>
            <a:ext cx="2051745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Components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066800"/>
            <a:ext cx="40767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 can use Vue components directly inside your slides.</a:t>
            </a:r>
            <a:endParaRPr lang="en-US" sz="1320" dirty="0"/>
          </a:p>
        </p:txBody>
      </p:sp>
      <p:sp>
        <p:nvSpPr>
          <p:cNvPr id="4" name="Shape 2"/>
          <p:cNvSpPr/>
          <p:nvPr/>
        </p:nvSpPr>
        <p:spPr>
          <a:xfrm>
            <a:off x="533400" y="1924050"/>
            <a:ext cx="838646" cy="209550"/>
          </a:xfrm>
          <a:prstGeom prst="roundRect">
            <a:avLst>
              <a:gd name="adj" fmla="val 18182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730871" y="1924050"/>
            <a:ext cx="1019621" cy="209550"/>
          </a:xfrm>
          <a:prstGeom prst="roundRect">
            <a:avLst>
              <a:gd name="adj" fmla="val 18182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3400" y="1676400"/>
            <a:ext cx="4076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 have provided a few built-in components like </a:t>
            </a:r>
            <a:pPr algn="l" indent="0" marL="0">
              <a:lnSpc>
                <a:spcPts val="1800"/>
              </a:lnSpc>
              <a:buNone/>
            </a:pPr>
            <a:r>
              <a:rPr lang="en-US" sz="1188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&lt;Tweet/&gt;</a:t>
            </a:r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and </a:t>
            </a:r>
            <a:pPr algn="l" indent="0" marL="0">
              <a:lnSpc>
                <a:spcPts val="1800"/>
              </a:lnSpc>
              <a:buNone/>
            </a:pPr>
            <a:r>
              <a:rPr lang="en-US" sz="1188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&lt;Youtube/&gt;</a:t>
            </a:r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that you can use directly. Adding your own custom components is also super easy.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33400" y="2752725"/>
            <a:ext cx="4057650" cy="32385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9600" y="2847975"/>
            <a:ext cx="169202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&lt;</a:t>
            </a:r>
            <a:pPr algn="l" indent="0" marL="0">
              <a:buNone/>
            </a:pPr>
            <a:r>
              <a:rPr lang="en-US" sz="900" dirty="0">
                <a:solidFill>
                  <a:srgbClr val="B31D2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Counter</a:t>
            </a:r>
            <a:pPr algn="l" indent="0" marL="0"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:count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=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10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/&gt;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3400" y="3228975"/>
            <a:ext cx="875258" cy="422821"/>
          </a:xfrm>
          <a:prstGeom prst="roundRect">
            <a:avLst>
              <a:gd name="adj" fmla="val 13516"/>
            </a:avLst>
          </a:prstGeom>
          <a:noFill/>
          <a:ln w="9525">
            <a:solidFill>
              <a:srgbClr val="9CA3A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933" y="3238500"/>
            <a:ext cx="9525" cy="403771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1975" y="3343275"/>
            <a:ext cx="2149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-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881658" y="3324225"/>
            <a:ext cx="29304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10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1136600" y="3238500"/>
            <a:ext cx="9525" cy="403771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65175" y="3343275"/>
            <a:ext cx="2149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+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533400" y="3804196"/>
            <a:ext cx="239866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Check out </a:t>
            </a:r>
            <a:pPr algn="l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guides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for more.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4743450" y="952500"/>
            <a:ext cx="4057650" cy="32385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19650" y="1047750"/>
            <a:ext cx="244643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&lt;</a:t>
            </a:r>
            <a:pPr algn="l" indent="0" marL="0">
              <a:buNone/>
            </a:pPr>
            <a:r>
              <a:rPr lang="en-US" sz="900" dirty="0">
                <a:solidFill>
                  <a:srgbClr val="B31D2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Tweet</a:t>
            </a:r>
            <a:pPr algn="l" indent="0" marL="0"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id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=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1390115482657726468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/&gt;</a:t>
            </a:r>
            <a:endParaRPr lang="en-US" sz="900" dirty="0"/>
          </a:p>
        </p:txBody>
      </p:sp>
      <p:pic>
        <p:nvPicPr>
          <p:cNvPr id="18" name="Image 0" descr="Rendered as an image because of CSS trans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371600"/>
            <a:ext cx="2637473" cy="3448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4885" y="342900"/>
            <a:ext cx="1317278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Themes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838200"/>
            <a:ext cx="782955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Slidev comes with powerful theming support. Themes can provide styles, layouts, components, or even configurations for tools. Switch between themes on a per-slide basis with just </a:t>
            </a:r>
            <a:pPr algn="l" indent="0" marL="0">
              <a:lnSpc>
                <a:spcPts val="1800"/>
              </a:lnSpc>
              <a:buNone/>
            </a:pPr>
            <a:r>
              <a:rPr lang="en-US" sz="1320" b="1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one change</a:t>
            </a:r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in your frontmatter:</a:t>
            </a:r>
            <a:endParaRPr lang="en-US" sz="1320" dirty="0"/>
          </a:p>
        </p:txBody>
      </p:sp>
      <p:sp>
        <p:nvSpPr>
          <p:cNvPr id="4" name="Shape 2"/>
          <p:cNvSpPr/>
          <p:nvPr/>
        </p:nvSpPr>
        <p:spPr>
          <a:xfrm>
            <a:off x="762000" y="1714500"/>
            <a:ext cx="3867150" cy="66675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8200" y="1809750"/>
            <a:ext cx="3733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---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841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theme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default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---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05350" y="1714500"/>
            <a:ext cx="3867150" cy="66675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81550" y="1809750"/>
            <a:ext cx="3733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---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841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theme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seriph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---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495550"/>
            <a:ext cx="3867150" cy="217527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350" y="2495550"/>
            <a:ext cx="3867150" cy="21752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2000" y="4823222"/>
            <a:ext cx="622994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Read more about </a:t>
            </a:r>
            <a:pPr algn="l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a theme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and check out the </a:t>
            </a:r>
            <a:pPr algn="l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Awesome Themes Gallery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.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as an image because of CSS trans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3162300"/>
            <a:ext cx="1227683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16285" y="342900"/>
            <a:ext cx="1896814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Animations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838200"/>
            <a:ext cx="352886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Animations are powered by </a:t>
            </a:r>
            <a:pPr algn="l" indent="0" marL="0">
              <a:buNone/>
            </a:pPr>
            <a:r>
              <a:rPr lang="en-US" sz="1320" u="dash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@vueuse/motion</a:t>
            </a:r>
            <a:pPr algn="l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.</a:t>
            </a:r>
            <a:endParaRPr lang="en-US" sz="1320" dirty="0"/>
          </a:p>
        </p:txBody>
      </p:sp>
      <p:sp>
        <p:nvSpPr>
          <p:cNvPr id="5" name="Shape 2"/>
          <p:cNvSpPr/>
          <p:nvPr/>
        </p:nvSpPr>
        <p:spPr>
          <a:xfrm>
            <a:off x="533400" y="1219200"/>
            <a:ext cx="8267700" cy="1181100"/>
          </a:xfrm>
          <a:prstGeom prst="roundRect">
            <a:avLst>
              <a:gd name="adj" fmla="val 3226"/>
            </a:avLst>
          </a:prstGeom>
          <a:solidFill>
            <a:srgbClr val="F5F5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09600" y="1314450"/>
            <a:ext cx="81343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&lt;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754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div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v-motion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:initial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=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{ x: -80 }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:enter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=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{ x: 0 }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&gt;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93A3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Slidev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&lt;/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754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div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&gt;</a:t>
            </a:r>
            <a:endParaRPr lang="en-US" sz="900" dirty="0"/>
          </a:p>
        </p:txBody>
      </p:sp>
      <p:pic>
        <p:nvPicPr>
          <p:cNvPr id="7" name="Image 1" descr="Rendered as an image because of CSS transfo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28900"/>
            <a:ext cx="1524000" cy="1524000"/>
          </a:xfrm>
          <a:prstGeom prst="rect">
            <a:avLst/>
          </a:prstGeom>
        </p:spPr>
      </p:pic>
      <p:pic>
        <p:nvPicPr>
          <p:cNvPr id="8" name="Image 2" descr="Rendered as an image because of CSS transfor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628900"/>
            <a:ext cx="1524000" cy="1524000"/>
          </a:xfrm>
          <a:prstGeom prst="rect">
            <a:avLst/>
          </a:prstGeom>
        </p:spPr>
      </p:pic>
      <p:pic>
        <p:nvPicPr>
          <p:cNvPr id="9" name="Image 3" descr="Rendered as an image because of CSS transfor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628900"/>
            <a:ext cx="1524000" cy="1524000"/>
          </a:xfrm>
          <a:prstGeom prst="rect">
            <a:avLst/>
          </a:prstGeom>
        </p:spPr>
      </p:pic>
      <p:pic>
        <p:nvPicPr>
          <p:cNvPr id="10" name="Image 4" descr="Rendered as an image because of CSS transfor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4305300"/>
            <a:ext cx="82677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42900"/>
            <a:ext cx="1052215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LaTeX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38200"/>
            <a:ext cx="382131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LaTeX is supported out-of-box powered by </a:t>
            </a:r>
            <a:pPr algn="l" indent="0" marL="0">
              <a:buNone/>
            </a:pPr>
            <a:r>
              <a:rPr lang="en-US" sz="1320" u="dash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KaTeX</a:t>
            </a:r>
            <a:pPr algn="l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.</a:t>
            </a:r>
            <a:endParaRPr lang="en-US" sz="1320" dirty="0"/>
          </a:p>
        </p:txBody>
      </p:sp>
      <p:pic>
        <p:nvPicPr>
          <p:cNvPr id="4" name="Image 0" descr="Rendered as an image because of CSS ma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87" y="1622971"/>
            <a:ext cx="1688157" cy="2381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3400" y="1632496"/>
            <a:ext cx="59858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Inline</a:t>
            </a:r>
            <a:endParaRPr lang="en-US" sz="1320" dirty="0"/>
          </a:p>
        </p:txBody>
      </p:sp>
      <p:sp>
        <p:nvSpPr>
          <p:cNvPr id="6" name="Text 3"/>
          <p:cNvSpPr txBox="1"/>
          <p:nvPr/>
        </p:nvSpPr>
        <p:spPr>
          <a:xfrm>
            <a:off x="533400" y="2037755"/>
            <a:ext cx="52521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Block</a:t>
            </a:r>
            <a:endParaRPr lang="en-US" sz="1320" dirty="0"/>
          </a:p>
        </p:txBody>
      </p:sp>
      <p:pic>
        <p:nvPicPr>
          <p:cNvPr id="7" name="Image 1" descr="Rendered as an image because of CSS ma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33935"/>
            <a:ext cx="8267700" cy="8507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6250" y="3855988"/>
            <a:ext cx="9661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 more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42900"/>
            <a:ext cx="1563142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Diagrams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38200"/>
            <a:ext cx="657135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 can create diagrams / graphs from textual descriptions, directly in your Markdown.</a:t>
            </a:r>
            <a:endParaRPr lang="en-US" sz="1320" dirty="0"/>
          </a:p>
        </p:txBody>
      </p:sp>
      <p:pic>
        <p:nvPicPr>
          <p:cNvPr id="4" name="Image 0" descr="Rendered as an image because of CSS sv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371600"/>
            <a:ext cx="2366963" cy="15716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77540" y="3733800"/>
            <a:ext cx="215265" cy="182882"/>
          </a:xfrm>
          <a:prstGeom prst="rect">
            <a:avLst/>
          </a:prstGeom>
          <a:solidFill>
            <a:srgbClr val="E8E8E8">
              <a:alpha val="8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3177540" y="3733800"/>
            <a:ext cx="215265" cy="182882"/>
          </a:xfrm>
          <a:prstGeom prst="rect">
            <a:avLst/>
          </a:prstGeom>
          <a:solidFill>
            <a:srgbClr val="E8E8E8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177540" y="3733800"/>
            <a:ext cx="215265" cy="182882"/>
          </a:xfrm>
          <a:prstGeom prst="rect">
            <a:avLst/>
          </a:prstGeom>
          <a:solidFill>
            <a:srgbClr val="E8E8E8">
              <a:alpha val="8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177540" y="3733800"/>
            <a:ext cx="215265" cy="182882"/>
          </a:xfrm>
          <a:prstGeom prst="rect">
            <a:avLst/>
          </a:prstGeom>
          <a:solidFill>
            <a:srgbClr val="E8E8E8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644390" y="3733800"/>
            <a:ext cx="210145" cy="182882"/>
          </a:xfrm>
          <a:prstGeom prst="rect">
            <a:avLst/>
          </a:prstGeom>
          <a:solidFill>
            <a:srgbClr val="E8E8E8">
              <a:alpha val="8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644390" y="3733800"/>
            <a:ext cx="210145" cy="182882"/>
          </a:xfrm>
          <a:prstGeom prst="rect">
            <a:avLst/>
          </a:prstGeom>
          <a:solidFill>
            <a:srgbClr val="E8E8E8">
              <a:alpha val="5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644390" y="3733800"/>
            <a:ext cx="210145" cy="182882"/>
          </a:xfrm>
          <a:prstGeom prst="rect">
            <a:avLst/>
          </a:prstGeom>
          <a:solidFill>
            <a:srgbClr val="E8E8E8">
              <a:alpha val="8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644390" y="3733800"/>
            <a:ext cx="210145" cy="182882"/>
          </a:xfrm>
          <a:prstGeom prst="rect">
            <a:avLst/>
          </a:prstGeom>
          <a:solidFill>
            <a:srgbClr val="E8E8E8">
              <a:alpha val="80000"/>
            </a:srgbClr>
          </a:solidFill>
          <a:ln/>
        </p:spPr>
      </p:sp>
      <p:pic>
        <p:nvPicPr>
          <p:cNvPr id="13" name="Image 1" descr="Rendered as an image because of CSS foreign-obje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1371600"/>
            <a:ext cx="2743200" cy="3276600"/>
          </a:xfrm>
          <a:prstGeom prst="rect">
            <a:avLst/>
          </a:prstGeom>
        </p:spPr>
      </p:pic>
      <p:pic>
        <p:nvPicPr>
          <p:cNvPr id="14" name="Image 2" descr="Rendered as an image because of CSS foreign-obje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371600"/>
            <a:ext cx="1924050" cy="1839069"/>
          </a:xfrm>
          <a:prstGeom prst="rect">
            <a:avLst/>
          </a:prstGeom>
        </p:spPr>
      </p:pic>
      <p:pic>
        <p:nvPicPr>
          <p:cNvPr id="15" name="Image 3" descr="PlantUML diagra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635" y="1676526"/>
            <a:ext cx="1346731" cy="142299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76250" y="4642396"/>
            <a:ext cx="9667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 More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29633" y="2171700"/>
            <a:ext cx="1857970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Learn More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3240732" y="2667000"/>
            <a:ext cx="12805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</a:t>
            </a:r>
            <a:endParaRPr lang="en-US" sz="1320" dirty="0"/>
          </a:p>
        </p:txBody>
      </p:sp>
      <p:sp>
        <p:nvSpPr>
          <p:cNvPr id="4" name="Text 2"/>
          <p:cNvSpPr txBox="1"/>
          <p:nvPr/>
        </p:nvSpPr>
        <p:spPr>
          <a:xfrm>
            <a:off x="4406950" y="2667000"/>
            <a:ext cx="23604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· </a:t>
            </a:r>
            <a:endParaRPr lang="en-US" sz="1320" dirty="0"/>
          </a:p>
        </p:txBody>
      </p:sp>
      <p:sp>
        <p:nvSpPr>
          <p:cNvPr id="5" name="Text 3"/>
          <p:cNvSpPr txBox="1"/>
          <p:nvPr/>
        </p:nvSpPr>
        <p:spPr>
          <a:xfrm>
            <a:off x="4528691" y="2667000"/>
            <a:ext cx="6520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5066407" y="2667000"/>
            <a:ext cx="23604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· 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5188148" y="2667000"/>
            <a:ext cx="9056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Showcases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Slidev</dc:title>
  <dc:subject>## Slidev Starter Template
Presentation slides for developers.
Learn more at [Sli.dev](https://sli.dev)
</dc:subject>
  <dc:creator>PptxGenJS</dc:creator>
  <cp:lastModifiedBy>PptxGenJS</cp:lastModifiedBy>
  <cp:revision>1</cp:revision>
  <dcterms:created xsi:type="dcterms:W3CDTF">2026-10-15T07:21:52Z</dcterms:created>
  <dcterms:modified xsi:type="dcterms:W3CDTF">2026-10-15T07:21:52Z</dcterms:modified>
</cp:coreProperties>
</file>