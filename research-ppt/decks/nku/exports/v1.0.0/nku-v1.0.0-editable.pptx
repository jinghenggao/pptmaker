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南开大学标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1875" y="299145"/>
            <a:ext cx="2000250" cy="62076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1276350"/>
            <a:ext cx="9144000" cy="2009775"/>
          </a:xfrm>
          <a:prstGeom prst="rect">
            <a:avLst/>
          </a:prstGeom>
          <a:solidFill>
            <a:srgbClr val="86006A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1276350"/>
            <a:ext cx="9144000" cy="9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3276600"/>
            <a:ext cx="9144000" cy="9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1209675"/>
            <a:ext cx="9144000" cy="9525"/>
          </a:xfrm>
          <a:prstGeom prst="rect">
            <a:avLst/>
          </a:prstGeom>
          <a:solidFill>
            <a:srgbClr val="86006A"/>
          </a:solidFill>
          <a:ln/>
        </p:spPr>
      </p:sp>
      <p:sp>
        <p:nvSpPr>
          <p:cNvPr id="8" name="Shape 5"/>
          <p:cNvSpPr/>
          <p:nvPr/>
        </p:nvSpPr>
        <p:spPr>
          <a:xfrm>
            <a:off x="0" y="3343275"/>
            <a:ext cx="9144000" cy="9525"/>
          </a:xfrm>
          <a:prstGeom prst="rect">
            <a:avLst/>
          </a:prstGeom>
          <a:solidFill>
            <a:srgbClr val="86006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686050" y="1932682"/>
            <a:ext cx="37719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通用科研汇报</a:t>
            </a:r>
            <a:endParaRPr lang="en-US" sz="4800" dirty="0"/>
          </a:p>
        </p:txBody>
      </p:sp>
      <p:pic>
        <p:nvPicPr>
          <p:cNvPr id="10" name="Image 1" descr="左侧校园建筑装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5869"/>
            <a:ext cx="3429000" cy="2237631"/>
          </a:xfrm>
          <a:prstGeom prst="rect">
            <a:avLst/>
          </a:prstGeom>
        </p:spPr>
      </p:pic>
      <p:pic>
        <p:nvPicPr>
          <p:cNvPr id="11" name="Image 2" descr="右侧校园建筑装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518" y="3355181"/>
            <a:ext cx="3145482" cy="1788319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448050" y="3886200"/>
            <a:ext cx="2247900" cy="466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6006A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3852565" y="3971925"/>
            <a:ext cx="143872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Name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00250" cy="5143500"/>
          </a:xfrm>
          <a:prstGeom prst="rect">
            <a:avLst/>
          </a:prstGeom>
          <a:solidFill>
            <a:srgbClr val="86006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857250"/>
            <a:ext cx="1809750" cy="342900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09675" y="1511647"/>
            <a:ext cx="1276350" cy="1417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60"/>
              </a:lnSpc>
              <a:buNone/>
            </a:pPr>
            <a:r>
              <a:rPr lang="en-US" sz="4800" b="1" dirty="0">
                <a:solidFill>
                  <a:srgbClr val="860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</a:t>
            </a:r>
            <a:br/>
            <a:pPr algn="l" indent="0" marL="0">
              <a:lnSpc>
                <a:spcPts val="5760"/>
              </a:lnSpc>
              <a:buNone/>
            </a:pPr>
            <a:r>
              <a:rPr lang="en-US" sz="4800" b="1" dirty="0">
                <a:solidFill>
                  <a:srgbClr val="860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提纲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590675" y="3222278"/>
            <a:ext cx="457200" cy="28575"/>
          </a:xfrm>
          <a:prstGeom prst="rect">
            <a:avLst/>
          </a:prstGeom>
          <a:solidFill>
            <a:srgbClr val="86006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95400" y="3431828"/>
            <a:ext cx="11620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60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00375" y="885825"/>
            <a:ext cx="5429250" cy="6858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7738" y="1077218"/>
            <a:ext cx="191452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研究问题与背景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3000375" y="1781175"/>
            <a:ext cx="5429250" cy="685800"/>
          </a:xfrm>
          <a:prstGeom prst="rect">
            <a:avLst/>
          </a:prstGeom>
          <a:solidFill>
            <a:srgbClr val="8600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7738" y="1972568"/>
            <a:ext cx="191452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方法与系统设计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3000375" y="2676525"/>
            <a:ext cx="5429250" cy="6858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57738" y="2867918"/>
            <a:ext cx="191452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示例数据与结果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3000375" y="3571875"/>
            <a:ext cx="5429250" cy="6858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57738" y="3763268"/>
            <a:ext cx="191452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总结与后续工作</a:t>
            </a:r>
            <a:endParaRPr lang="en-US" sz="20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0050"/>
            <a:ext cx="9144000" cy="9525"/>
          </a:xfrm>
          <a:prstGeom prst="rect">
            <a:avLst/>
          </a:prstGeom>
          <a:solidFill>
            <a:srgbClr val="86006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61925" y="76200"/>
            <a:ext cx="164782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表格与示例数据</a:t>
            </a:r>
            <a:endParaRPr lang="en-US" sz="1725" dirty="0"/>
          </a:p>
        </p:txBody>
      </p:sp>
      <p:sp>
        <p:nvSpPr>
          <p:cNvPr id="5" name="Text 3"/>
          <p:cNvSpPr txBox="1"/>
          <p:nvPr/>
        </p:nvSpPr>
        <p:spPr>
          <a:xfrm>
            <a:off x="575310" y="1227386"/>
            <a:ext cx="377190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725" dirty="0"/>
          </a:p>
        </p:txBody>
      </p:sp>
      <p:sp>
        <p:nvSpPr>
          <p:cNvPr id="6" name="Text 4"/>
          <p:cNvSpPr txBox="1"/>
          <p:nvPr/>
        </p:nvSpPr>
        <p:spPr>
          <a:xfrm>
            <a:off x="838200" y="1265486"/>
            <a:ext cx="40576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用表格比较具有相同定义和单位的指标。</a:t>
            </a:r>
            <a:endParaRPr lang="en-US" sz="1725" dirty="0"/>
          </a:p>
        </p:txBody>
      </p:sp>
      <p:sp>
        <p:nvSpPr>
          <p:cNvPr id="7" name="Text 5"/>
          <p:cNvSpPr txBox="1"/>
          <p:nvPr/>
        </p:nvSpPr>
        <p:spPr>
          <a:xfrm>
            <a:off x="575310" y="1614488"/>
            <a:ext cx="377190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725" dirty="0"/>
          </a:p>
        </p:txBody>
      </p:sp>
      <p:sp>
        <p:nvSpPr>
          <p:cNvPr id="8" name="Text 6"/>
          <p:cNvSpPr txBox="1"/>
          <p:nvPr/>
        </p:nvSpPr>
        <p:spPr>
          <a:xfrm>
            <a:off x="838200" y="1652587"/>
            <a:ext cx="427672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以下为排版示例数据，不是真实实验结果。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2000994" y="2325439"/>
            <a:ext cx="5142012" cy="9525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0" name="Shape 8"/>
          <p:cNvSpPr/>
          <p:nvPr/>
        </p:nvSpPr>
        <p:spPr>
          <a:xfrm>
            <a:off x="2000994" y="4078039"/>
            <a:ext cx="5142012" cy="9525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1" name="Shape 9"/>
          <p:cNvSpPr/>
          <p:nvPr/>
        </p:nvSpPr>
        <p:spPr>
          <a:xfrm>
            <a:off x="2000994" y="2763589"/>
            <a:ext cx="1104900" cy="9525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153394" y="2439739"/>
            <a:ext cx="9144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示例方案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3105894" y="2763589"/>
            <a:ext cx="1471613" cy="9525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143994" y="2439739"/>
            <a:ext cx="128111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参数量（M）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4577507" y="2763589"/>
            <a:ext cx="1460599" cy="9525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15607" y="2439739"/>
            <a:ext cx="127009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计算量（G）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6038106" y="2763589"/>
            <a:ext cx="1104900" cy="9525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76206" y="2439739"/>
            <a:ext cx="9144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示例得分</a:t>
            </a:r>
            <a:endParaRPr lang="en-US" sz="1575" dirty="0"/>
          </a:p>
        </p:txBody>
      </p:sp>
      <p:sp>
        <p:nvSpPr>
          <p:cNvPr id="19" name="Text 17"/>
          <p:cNvSpPr txBox="1"/>
          <p:nvPr/>
        </p:nvSpPr>
        <p:spPr>
          <a:xfrm>
            <a:off x="2153394" y="2882652"/>
            <a:ext cx="70336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 A</a:t>
            </a:r>
            <a:endParaRPr lang="en-US" sz="1575" dirty="0"/>
          </a:p>
        </p:txBody>
      </p:sp>
      <p:sp>
        <p:nvSpPr>
          <p:cNvPr id="20" name="Text 18"/>
          <p:cNvSpPr txBox="1"/>
          <p:nvPr/>
        </p:nvSpPr>
        <p:spPr>
          <a:xfrm>
            <a:off x="3921472" y="2882652"/>
            <a:ext cx="5036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</a:t>
            </a:r>
            <a:endParaRPr lang="en-US" sz="1575" dirty="0"/>
          </a:p>
        </p:txBody>
      </p:sp>
      <p:sp>
        <p:nvSpPr>
          <p:cNvPr id="21" name="Text 19"/>
          <p:cNvSpPr txBox="1"/>
          <p:nvPr/>
        </p:nvSpPr>
        <p:spPr>
          <a:xfrm>
            <a:off x="5493246" y="2882652"/>
            <a:ext cx="39246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575" dirty="0"/>
          </a:p>
        </p:txBody>
      </p:sp>
      <p:sp>
        <p:nvSpPr>
          <p:cNvPr id="22" name="Text 20"/>
          <p:cNvSpPr txBox="1"/>
          <p:nvPr/>
        </p:nvSpPr>
        <p:spPr>
          <a:xfrm>
            <a:off x="6486971" y="2882652"/>
            <a:ext cx="5036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</a:t>
            </a:r>
            <a:endParaRPr lang="en-US" sz="1575" dirty="0"/>
          </a:p>
        </p:txBody>
      </p:sp>
      <p:sp>
        <p:nvSpPr>
          <p:cNvPr id="23" name="Text 21"/>
          <p:cNvSpPr txBox="1"/>
          <p:nvPr/>
        </p:nvSpPr>
        <p:spPr>
          <a:xfrm>
            <a:off x="2153394" y="3316039"/>
            <a:ext cx="70336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 B</a:t>
            </a:r>
            <a:endParaRPr lang="en-US" sz="1575" dirty="0"/>
          </a:p>
        </p:txBody>
      </p:sp>
      <p:sp>
        <p:nvSpPr>
          <p:cNvPr id="24" name="Text 22"/>
          <p:cNvSpPr txBox="1"/>
          <p:nvPr/>
        </p:nvSpPr>
        <p:spPr>
          <a:xfrm>
            <a:off x="3921472" y="3316039"/>
            <a:ext cx="5036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</a:t>
            </a:r>
            <a:endParaRPr lang="en-US" sz="1575" dirty="0"/>
          </a:p>
        </p:txBody>
      </p:sp>
      <p:sp>
        <p:nvSpPr>
          <p:cNvPr id="25" name="Text 23"/>
          <p:cNvSpPr txBox="1"/>
          <p:nvPr/>
        </p:nvSpPr>
        <p:spPr>
          <a:xfrm>
            <a:off x="5493246" y="3316039"/>
            <a:ext cx="39246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575" dirty="0"/>
          </a:p>
        </p:txBody>
      </p:sp>
      <p:sp>
        <p:nvSpPr>
          <p:cNvPr id="26" name="Text 24"/>
          <p:cNvSpPr txBox="1"/>
          <p:nvPr/>
        </p:nvSpPr>
        <p:spPr>
          <a:xfrm>
            <a:off x="6486971" y="3316039"/>
            <a:ext cx="5036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1575" dirty="0"/>
          </a:p>
        </p:txBody>
      </p:sp>
      <p:sp>
        <p:nvSpPr>
          <p:cNvPr id="27" name="Text 25"/>
          <p:cNvSpPr txBox="1"/>
          <p:nvPr/>
        </p:nvSpPr>
        <p:spPr>
          <a:xfrm>
            <a:off x="2153394" y="3749427"/>
            <a:ext cx="71437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 C</a:t>
            </a:r>
            <a:endParaRPr lang="en-US" sz="1575" dirty="0"/>
          </a:p>
        </p:txBody>
      </p:sp>
      <p:sp>
        <p:nvSpPr>
          <p:cNvPr id="28" name="Text 26"/>
          <p:cNvSpPr txBox="1"/>
          <p:nvPr/>
        </p:nvSpPr>
        <p:spPr>
          <a:xfrm>
            <a:off x="3921472" y="3749427"/>
            <a:ext cx="5036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24.0</a:t>
            </a:r>
            <a:endParaRPr lang="en-US" sz="1575" dirty="0"/>
          </a:p>
        </p:txBody>
      </p:sp>
      <p:sp>
        <p:nvSpPr>
          <p:cNvPr id="29" name="Text 27"/>
          <p:cNvSpPr txBox="1"/>
          <p:nvPr/>
        </p:nvSpPr>
        <p:spPr>
          <a:xfrm>
            <a:off x="5493246" y="3749427"/>
            <a:ext cx="39246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575" dirty="0"/>
          </a:p>
        </p:txBody>
      </p:sp>
      <p:sp>
        <p:nvSpPr>
          <p:cNvPr id="30" name="Text 28"/>
          <p:cNvSpPr txBox="1"/>
          <p:nvPr/>
        </p:nvSpPr>
        <p:spPr>
          <a:xfrm>
            <a:off x="6486971" y="3749427"/>
            <a:ext cx="5036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</a:t>
            </a:r>
            <a:endParaRPr lang="en-US" sz="1575" dirty="0"/>
          </a:p>
        </p:txBody>
      </p:sp>
      <p:sp>
        <p:nvSpPr>
          <p:cNvPr id="31" name="Shape 29"/>
          <p:cNvSpPr/>
          <p:nvPr/>
        </p:nvSpPr>
        <p:spPr>
          <a:xfrm>
            <a:off x="0" y="4905375"/>
            <a:ext cx="2743200" cy="238125"/>
          </a:xfrm>
          <a:prstGeom prst="rect">
            <a:avLst/>
          </a:prstGeom>
          <a:solidFill>
            <a:srgbClr val="86006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6351" y="4953000"/>
            <a:ext cx="11303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示例作者 · 示例单位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0" y="4905375"/>
            <a:ext cx="5486400" cy="238125"/>
          </a:xfrm>
          <a:prstGeom prst="rect">
            <a:avLst/>
          </a:prstGeom>
          <a:solidFill>
            <a:srgbClr val="70005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806851" y="4953000"/>
            <a:ext cx="13589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通用科研汇报 · 示例内容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229600" y="4905375"/>
            <a:ext cx="914400" cy="238125"/>
          </a:xfrm>
          <a:prstGeom prst="rect">
            <a:avLst/>
          </a:prstGeom>
          <a:solidFill>
            <a:srgbClr val="86006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597801" y="4953000"/>
            <a:ext cx="17799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0050"/>
            <a:ext cx="9144000" cy="9525"/>
          </a:xfrm>
          <a:prstGeom prst="rect">
            <a:avLst/>
          </a:prstGeom>
          <a:solidFill>
            <a:srgbClr val="86006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61925" y="76200"/>
            <a:ext cx="208597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图文并排与图片说明</a:t>
            </a:r>
            <a:endParaRPr lang="en-US" sz="1725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1199257"/>
            <a:ext cx="225742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左侧：解释观察对象</a:t>
            </a:r>
            <a:endParaRPr lang="en-US" sz="1875" dirty="0"/>
          </a:p>
        </p:txBody>
      </p:sp>
      <p:sp>
        <p:nvSpPr>
          <p:cNvPr id="6" name="Text 4"/>
          <p:cNvSpPr txBox="1"/>
          <p:nvPr/>
        </p:nvSpPr>
        <p:spPr>
          <a:xfrm>
            <a:off x="575310" y="1599307"/>
            <a:ext cx="377190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725" dirty="0"/>
          </a:p>
        </p:txBody>
      </p:sp>
      <p:sp>
        <p:nvSpPr>
          <p:cNvPr id="7" name="Text 5"/>
          <p:cNvSpPr txBox="1"/>
          <p:nvPr/>
        </p:nvSpPr>
        <p:spPr>
          <a:xfrm>
            <a:off x="838200" y="1637407"/>
            <a:ext cx="208597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保留原始图片比例。</a:t>
            </a:r>
            <a:endParaRPr lang="en-US" sz="1725" dirty="0"/>
          </a:p>
        </p:txBody>
      </p:sp>
      <p:sp>
        <p:nvSpPr>
          <p:cNvPr id="8" name="Text 6"/>
          <p:cNvSpPr txBox="1"/>
          <p:nvPr/>
        </p:nvSpPr>
        <p:spPr>
          <a:xfrm>
            <a:off x="575310" y="1986409"/>
            <a:ext cx="377190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725" dirty="0"/>
          </a:p>
        </p:txBody>
      </p:sp>
      <p:sp>
        <p:nvSpPr>
          <p:cNvPr id="9" name="Text 7"/>
          <p:cNvSpPr txBox="1"/>
          <p:nvPr/>
        </p:nvSpPr>
        <p:spPr>
          <a:xfrm>
            <a:off x="838200" y="2024509"/>
            <a:ext cx="252412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用图注交代来源和含义。</a:t>
            </a:r>
            <a:endParaRPr lang="en-US" sz="1725" dirty="0"/>
          </a:p>
        </p:txBody>
      </p:sp>
      <p:sp>
        <p:nvSpPr>
          <p:cNvPr id="10" name="Text 8"/>
          <p:cNvSpPr txBox="1"/>
          <p:nvPr/>
        </p:nvSpPr>
        <p:spPr>
          <a:xfrm>
            <a:off x="575310" y="2373511"/>
            <a:ext cx="377190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725" dirty="0"/>
          </a:p>
        </p:txBody>
      </p:sp>
      <p:sp>
        <p:nvSpPr>
          <p:cNvPr id="11" name="Text 9"/>
          <p:cNvSpPr txBox="1"/>
          <p:nvPr/>
        </p:nvSpPr>
        <p:spPr>
          <a:xfrm>
            <a:off x="838200" y="2411611"/>
            <a:ext cx="27432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右图仅用于演示图文排版。</a:t>
            </a:r>
            <a:endParaRPr lang="en-US" sz="1725" dirty="0"/>
          </a:p>
        </p:txBody>
      </p:sp>
      <p:sp>
        <p:nvSpPr>
          <p:cNvPr id="12" name="Text 10"/>
          <p:cNvSpPr txBox="1"/>
          <p:nvPr/>
        </p:nvSpPr>
        <p:spPr>
          <a:xfrm>
            <a:off x="571500" y="2817763"/>
            <a:ext cx="3819525" cy="456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图片来自上游模板的 demo.jpg，不代表任何研究结论。</a:t>
            </a:r>
            <a:endParaRPr lang="en-US" sz="1350" dirty="0"/>
          </a:p>
        </p:txBody>
      </p:sp>
      <p:pic>
        <p:nvPicPr>
          <p:cNvPr id="13" name="Image 0" descr="上游模板的校园长椅示例照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2095" y="1284982"/>
            <a:ext cx="3640336" cy="242887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429101" y="3818632"/>
            <a:ext cx="248617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1：示例图片，保持原始比例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0" y="4905375"/>
            <a:ext cx="2743200" cy="238125"/>
          </a:xfrm>
          <a:prstGeom prst="rect">
            <a:avLst/>
          </a:prstGeom>
          <a:solidFill>
            <a:srgbClr val="86006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6351" y="4953000"/>
            <a:ext cx="11303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示例作者 · 示例单位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43200" y="4905375"/>
            <a:ext cx="5486400" cy="238125"/>
          </a:xfrm>
          <a:prstGeom prst="rect">
            <a:avLst/>
          </a:prstGeom>
          <a:solidFill>
            <a:srgbClr val="70005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06851" y="4953000"/>
            <a:ext cx="13589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通用科研汇报 · 示例内容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229600" y="4905375"/>
            <a:ext cx="914400" cy="238125"/>
          </a:xfrm>
          <a:prstGeom prst="rect">
            <a:avLst/>
          </a:prstGeom>
          <a:solidFill>
            <a:srgbClr val="86006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597801" y="4953000"/>
            <a:ext cx="17799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0050"/>
            <a:ext cx="9144000" cy="9525"/>
          </a:xfrm>
          <a:prstGeom prst="rect">
            <a:avLst/>
          </a:prstGeom>
          <a:solidFill>
            <a:srgbClr val="86006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61925" y="76200"/>
            <a:ext cx="164782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公式与符号说明</a:t>
            </a:r>
            <a:endParaRPr lang="en-US" sz="1725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579834"/>
            <a:ext cx="31813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以下公式仅用于展示公式排版。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2649141" y="1119336"/>
            <a:ext cx="3845570" cy="1280517"/>
          </a:xfrm>
          <a:prstGeom prst="roundRect">
            <a:avLst>
              <a:gd name="adj" fmla="val 13389"/>
            </a:avLst>
          </a:prstGeom>
          <a:solidFill>
            <a:srgbClr val="F1E8F0"/>
          </a:solidFill>
          <a:ln w="9525">
            <a:solidFill>
              <a:srgbClr val="DFC3DD"/>
            </a:solidFill>
            <a:prstDash val="solid"/>
          </a:ln>
        </p:spPr>
      </p:sp>
      <p:pic>
        <p:nvPicPr>
          <p:cNvPr id="7" name="Image 0" descr="Rendered as an image because of CSS ma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416" y="1347936"/>
            <a:ext cx="3255020" cy="82331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75310" y="2685604"/>
            <a:ext cx="377190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725" dirty="0"/>
          </a:p>
        </p:txBody>
      </p:sp>
      <p:pic>
        <p:nvPicPr>
          <p:cNvPr id="9" name="Image 1" descr="Rendered as an image because of CSS mat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85604"/>
            <a:ext cx="201811" cy="314325"/>
          </a:xfrm>
          <a:prstGeom prst="rect">
            <a:avLst/>
          </a:prstGeom>
        </p:spPr>
      </p:pic>
      <p:pic>
        <p:nvPicPr>
          <p:cNvPr id="10" name="Image 2" descr="Rendered as an image because of CSS mat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032" y="2685604"/>
            <a:ext cx="91529" cy="31432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40011" y="2723704"/>
            <a:ext cx="229924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：第 </a:t>
            </a:r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项的示例分数。</a:t>
            </a:r>
            <a:endParaRPr lang="en-US" sz="1725" dirty="0"/>
          </a:p>
        </p:txBody>
      </p:sp>
      <p:sp>
        <p:nvSpPr>
          <p:cNvPr id="12" name="Text 7"/>
          <p:cNvSpPr txBox="1"/>
          <p:nvPr/>
        </p:nvSpPr>
        <p:spPr>
          <a:xfrm>
            <a:off x="575310" y="3072705"/>
            <a:ext cx="377190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725" dirty="0"/>
          </a:p>
        </p:txBody>
      </p:sp>
      <p:pic>
        <p:nvPicPr>
          <p:cNvPr id="13" name="Image 3" descr="Rendered as an image because of CSS mat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072705"/>
            <a:ext cx="267295" cy="31432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05495" y="3110805"/>
            <a:ext cx="336411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：对应权重，所有权重之和为 1。</a:t>
            </a:r>
            <a:endParaRPr lang="en-US" sz="1725" dirty="0"/>
          </a:p>
        </p:txBody>
      </p:sp>
      <p:sp>
        <p:nvSpPr>
          <p:cNvPr id="15" name="Shape 9"/>
          <p:cNvSpPr/>
          <p:nvPr/>
        </p:nvSpPr>
        <p:spPr>
          <a:xfrm>
            <a:off x="3493889" y="3697932"/>
            <a:ext cx="2156222" cy="1113532"/>
          </a:xfrm>
          <a:prstGeom prst="roundRect">
            <a:avLst>
              <a:gd name="adj" fmla="val 10265"/>
            </a:avLst>
          </a:prstGeom>
          <a:solidFill>
            <a:srgbClr val="F4EFF6"/>
          </a:solidFill>
          <a:ln w="9525">
            <a:solidFill>
              <a:srgbClr val="BDA8C3"/>
            </a:solidFill>
            <a:prstDash val="dash"/>
          </a:ln>
        </p:spPr>
      </p:sp>
      <p:pic>
        <p:nvPicPr>
          <p:cNvPr id="16" name="Image 4" descr="Rendered as an image because of CSS mat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9164" y="3926532"/>
            <a:ext cx="1565672" cy="656332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0" y="4905375"/>
            <a:ext cx="2743200" cy="238125"/>
          </a:xfrm>
          <a:prstGeom prst="rect">
            <a:avLst/>
          </a:prstGeom>
          <a:solidFill>
            <a:srgbClr val="86006A"/>
          </a:solidFill>
          <a:ln/>
        </p:spPr>
      </p:sp>
      <p:sp>
        <p:nvSpPr>
          <p:cNvPr id="18" name="Text 11"/>
          <p:cNvSpPr txBox="1"/>
          <p:nvPr/>
        </p:nvSpPr>
        <p:spPr>
          <a:xfrm>
            <a:off x="806351" y="4953000"/>
            <a:ext cx="11303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示例作者 · 示例单位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2743200" y="4905375"/>
            <a:ext cx="5486400" cy="238125"/>
          </a:xfrm>
          <a:prstGeom prst="rect">
            <a:avLst/>
          </a:prstGeom>
          <a:solidFill>
            <a:srgbClr val="70005F"/>
          </a:solidFill>
          <a:ln/>
        </p:spPr>
      </p:sp>
      <p:sp>
        <p:nvSpPr>
          <p:cNvPr id="20" name="Text 13"/>
          <p:cNvSpPr txBox="1"/>
          <p:nvPr/>
        </p:nvSpPr>
        <p:spPr>
          <a:xfrm>
            <a:off x="4806851" y="4953000"/>
            <a:ext cx="13589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通用科研汇报 · 示例内容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8229600" y="4905375"/>
            <a:ext cx="914400" cy="238125"/>
          </a:xfrm>
          <a:prstGeom prst="rect">
            <a:avLst/>
          </a:prstGeom>
          <a:solidFill>
            <a:srgbClr val="86006A"/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8597801" y="4953000"/>
            <a:ext cx="17799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0050"/>
            <a:ext cx="9144000" cy="9525"/>
          </a:xfrm>
          <a:prstGeom prst="rect">
            <a:avLst/>
          </a:prstGeom>
          <a:solidFill>
            <a:srgbClr val="86006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61925" y="76200"/>
            <a:ext cx="18669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信息块与文字强调</a:t>
            </a:r>
            <a:endParaRPr lang="en-US" sz="1725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944017"/>
            <a:ext cx="40576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强调应服务于信息层级，避免整页高亮。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571500" y="1502569"/>
            <a:ext cx="8001000" cy="810071"/>
          </a:xfrm>
          <a:prstGeom prst="roundRect">
            <a:avLst>
              <a:gd name="adj" fmla="val 10582"/>
            </a:avLst>
          </a:prstGeom>
          <a:noFill/>
          <a:ln w="9525">
            <a:solidFill>
              <a:srgbClr val="CDA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512094"/>
            <a:ext cx="7981950" cy="385763"/>
          </a:xfrm>
          <a:prstGeom prst="roundRect">
            <a:avLst>
              <a:gd name="adj" fmla="val 19753"/>
            </a:avLst>
          </a:prstGeom>
          <a:solidFill>
            <a:srgbClr val="7000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6275" y="1578769"/>
            <a:ext cx="9906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常规信息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581025" y="1897856"/>
            <a:ext cx="7981950" cy="405259"/>
          </a:xfrm>
          <a:prstGeom prst="rect">
            <a:avLst/>
          </a:prstGeom>
          <a:solidFill>
            <a:srgbClr val="F4EB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6275" y="1983581"/>
            <a:ext cx="33147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在这里补充定义、背景或必要说明。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571500" y="2560290"/>
            <a:ext cx="8001000" cy="810071"/>
          </a:xfrm>
          <a:prstGeom prst="roundRect">
            <a:avLst>
              <a:gd name="adj" fmla="val 10582"/>
            </a:avLst>
          </a:prstGeom>
          <a:noFill/>
          <a:ln w="9525">
            <a:solidFill>
              <a:srgbClr val="DAB7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1025" y="2569815"/>
            <a:ext cx="7981950" cy="385763"/>
          </a:xfrm>
          <a:prstGeom prst="roundRect">
            <a:avLst>
              <a:gd name="adj" fmla="val 19753"/>
            </a:avLst>
          </a:prstGeom>
          <a:solidFill>
            <a:srgbClr val="96321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6275" y="2636490"/>
            <a:ext cx="9906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注意事项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581025" y="2955578"/>
            <a:ext cx="7981950" cy="405259"/>
          </a:xfrm>
          <a:prstGeom prst="rect">
            <a:avLst/>
          </a:prstGeom>
          <a:solidFill>
            <a:srgbClr val="F7EFE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275" y="3041303"/>
            <a:ext cx="391477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在这里说明实际存在的边界、风险或假设。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571500" y="3618012"/>
            <a:ext cx="8001000" cy="810071"/>
          </a:xfrm>
          <a:prstGeom prst="roundRect">
            <a:avLst>
              <a:gd name="adj" fmla="val 10582"/>
            </a:avLst>
          </a:prstGeom>
          <a:noFill/>
          <a:ln w="9525">
            <a:solidFill>
              <a:srgbClr val="E8C5B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1025" y="3627537"/>
            <a:ext cx="7981950" cy="385763"/>
          </a:xfrm>
          <a:prstGeom prst="roundRect">
            <a:avLst>
              <a:gd name="adj" fmla="val 19753"/>
            </a:avLst>
          </a:prstGeom>
          <a:solidFill>
            <a:srgbClr val="BE582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275" y="3694212"/>
            <a:ext cx="9906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核心要点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581025" y="4013299"/>
            <a:ext cx="7981950" cy="405259"/>
          </a:xfrm>
          <a:prstGeom prst="rect">
            <a:avLst/>
          </a:prstGeom>
          <a:solidFill>
            <a:srgbClr val="FAF2E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6275" y="4099024"/>
            <a:ext cx="33147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在这里概括本节由证据支持的结论。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0" y="4905375"/>
            <a:ext cx="2743200" cy="238125"/>
          </a:xfrm>
          <a:prstGeom prst="rect">
            <a:avLst/>
          </a:prstGeom>
          <a:solidFill>
            <a:srgbClr val="86006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6351" y="4953000"/>
            <a:ext cx="11303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示例作者 · 示例单位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0" y="4905375"/>
            <a:ext cx="5486400" cy="238125"/>
          </a:xfrm>
          <a:prstGeom prst="rect">
            <a:avLst/>
          </a:prstGeom>
          <a:solidFill>
            <a:srgbClr val="70005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06851" y="4953000"/>
            <a:ext cx="13589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通用科研汇报 · 示例内容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229600" y="4905375"/>
            <a:ext cx="914400" cy="238125"/>
          </a:xfrm>
          <a:prstGeom prst="rect">
            <a:avLst/>
          </a:prstGeom>
          <a:solidFill>
            <a:srgbClr val="86006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597801" y="4953000"/>
            <a:ext cx="17799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0050"/>
            <a:ext cx="9144000" cy="9525"/>
          </a:xfrm>
          <a:prstGeom prst="rect">
            <a:avLst/>
          </a:prstGeom>
          <a:solidFill>
            <a:srgbClr val="86006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61925" y="76200"/>
            <a:ext cx="23050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算法伪代码与输入输出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571500" y="1252984"/>
            <a:ext cx="8001000" cy="9525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3529459"/>
            <a:ext cx="8001000" cy="9525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76846"/>
            <a:ext cx="7772400" cy="9525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376809"/>
            <a:ext cx="342587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1：批次均值（排版示例）</a:t>
            </a:r>
            <a:endParaRPr lang="en-US" sz="1575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762571"/>
            <a:ext cx="219223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Input：</a:t>
            </a:r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非空数值列表 X</a:t>
            </a:r>
            <a:endParaRPr lang="en-US" sz="1575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100709"/>
            <a:ext cx="335905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Output：</a:t>
            </a:r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中所有数值的算术平均值</a:t>
            </a:r>
            <a:endParaRPr lang="en-US" sz="1575" dirty="0"/>
          </a:p>
        </p:txBody>
      </p:sp>
      <p:sp>
        <p:nvSpPr>
          <p:cNvPr id="11" name="Text 9"/>
          <p:cNvSpPr txBox="1"/>
          <p:nvPr/>
        </p:nvSpPr>
        <p:spPr>
          <a:xfrm>
            <a:off x="750570" y="2410271"/>
            <a:ext cx="35433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endParaRPr lang="en-US" sz="1575" dirty="0"/>
          </a:p>
        </p:txBody>
      </p:sp>
      <p:sp>
        <p:nvSpPr>
          <p:cNvPr id="12" name="Text 10"/>
          <p:cNvSpPr txBox="1"/>
          <p:nvPr/>
        </p:nvSpPr>
        <p:spPr>
          <a:xfrm>
            <a:off x="990600" y="2448371"/>
            <a:ext cx="157028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初始化 sum ← 0</a:t>
            </a:r>
            <a:endParaRPr lang="en-US" sz="1575" dirty="0"/>
          </a:p>
        </p:txBody>
      </p:sp>
      <p:sp>
        <p:nvSpPr>
          <p:cNvPr id="13" name="Text 11"/>
          <p:cNvSpPr txBox="1"/>
          <p:nvPr/>
        </p:nvSpPr>
        <p:spPr>
          <a:xfrm>
            <a:off x="750570" y="2757934"/>
            <a:ext cx="35433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endParaRPr lang="en-US" sz="1575" dirty="0"/>
          </a:p>
        </p:txBody>
      </p:sp>
      <p:sp>
        <p:nvSpPr>
          <p:cNvPr id="14" name="Text 12"/>
          <p:cNvSpPr txBox="1"/>
          <p:nvPr/>
        </p:nvSpPr>
        <p:spPr>
          <a:xfrm>
            <a:off x="990600" y="2796034"/>
            <a:ext cx="350966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对列表 X 中的每个 x：sum ← sum + x</a:t>
            </a:r>
            <a:endParaRPr lang="en-US" sz="1575" dirty="0"/>
          </a:p>
        </p:txBody>
      </p:sp>
      <p:sp>
        <p:nvSpPr>
          <p:cNvPr id="15" name="Text 13"/>
          <p:cNvSpPr txBox="1"/>
          <p:nvPr/>
        </p:nvSpPr>
        <p:spPr>
          <a:xfrm>
            <a:off x="750570" y="3105596"/>
            <a:ext cx="35433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endParaRPr lang="en-US" sz="1575" dirty="0"/>
          </a:p>
        </p:txBody>
      </p:sp>
      <p:sp>
        <p:nvSpPr>
          <p:cNvPr id="16" name="Text 14"/>
          <p:cNvSpPr txBox="1"/>
          <p:nvPr/>
        </p:nvSpPr>
        <p:spPr>
          <a:xfrm>
            <a:off x="990600" y="3143696"/>
            <a:ext cx="192628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返回 sum / length(X)</a:t>
            </a:r>
            <a:endParaRPr lang="en-US" sz="1575" dirty="0"/>
          </a:p>
        </p:txBody>
      </p:sp>
      <p:sp>
        <p:nvSpPr>
          <p:cNvPr id="17" name="Text 15"/>
          <p:cNvSpPr txBox="1"/>
          <p:nvPr/>
        </p:nvSpPr>
        <p:spPr>
          <a:xfrm>
            <a:off x="571500" y="3758059"/>
            <a:ext cx="42291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示例假设输入列表非空；实际使用时应明确输入边界。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0" y="4905375"/>
            <a:ext cx="2743200" cy="238125"/>
          </a:xfrm>
          <a:prstGeom prst="rect">
            <a:avLst/>
          </a:prstGeom>
          <a:solidFill>
            <a:srgbClr val="86006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6351" y="4953000"/>
            <a:ext cx="11303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示例作者 · 示例单位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0" y="4905375"/>
            <a:ext cx="5486400" cy="238125"/>
          </a:xfrm>
          <a:prstGeom prst="rect">
            <a:avLst/>
          </a:prstGeom>
          <a:solidFill>
            <a:srgbClr val="70005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06851" y="4953000"/>
            <a:ext cx="13589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通用科研汇报 · 示例内容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29600" y="4905375"/>
            <a:ext cx="914400" cy="238125"/>
          </a:xfrm>
          <a:prstGeom prst="rect">
            <a:avLst/>
          </a:prstGeom>
          <a:solidFill>
            <a:srgbClr val="86006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597801" y="4953000"/>
            <a:ext cx="17799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000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810000" y="2143125"/>
            <a:ext cx="1638300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致谢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TemplateNKU 通用科研汇报</dc:title>
  <dc:subject>PptxGenJS Presentation</dc:subject>
  <dc:creator>Your Name</dc:creator>
  <cp:lastModifiedBy>Your Name</cp:lastModifiedBy>
  <cp:revision>1</cp:revision>
  <dcterms:created xsi:type="dcterms:W3CDTF">2026-10-15T08:28:31Z</dcterms:created>
  <dcterms:modified xsi:type="dcterms:W3CDTF">2026-10-15T08:28:31Z</dcterms:modified>
</cp:coreProperties>
</file>