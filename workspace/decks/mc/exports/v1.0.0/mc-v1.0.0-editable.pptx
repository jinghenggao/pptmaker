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552700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697099" y="531614"/>
            <a:ext cx="3749802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39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TemplateMC</a:t>
            </a:r>
            <a:br/>
            <a:pPr algn="ctr" indent="0" marL="0">
              <a:lnSpc>
                <a:spcPts val="6239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852565" y="3314700"/>
            <a:ext cx="14387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038600" y="3817590"/>
            <a:ext cx="1066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示例单位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汇报提纲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807071"/>
            <a:ext cx="2970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25" dirty="0"/>
          </a:p>
        </p:txBody>
      </p:sp>
      <p:sp>
        <p:nvSpPr>
          <p:cNvPr id="6" name="Text 4"/>
          <p:cNvSpPr txBox="1"/>
          <p:nvPr/>
        </p:nvSpPr>
        <p:spPr>
          <a:xfrm>
            <a:off x="1116211" y="1807071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研究问题与背景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289423"/>
            <a:ext cx="2970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1116211" y="2289423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方法与系统设计</a:t>
            </a:r>
            <a:endParaRPr lang="en-US" sz="1725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2771775"/>
            <a:ext cx="2970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116211" y="2771775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示例数据与结果</a:t>
            </a:r>
            <a:endParaRPr lang="en-US" sz="1725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3254127"/>
            <a:ext cx="2970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725" dirty="0"/>
          </a:p>
        </p:txBody>
      </p:sp>
      <p:sp>
        <p:nvSpPr>
          <p:cNvPr id="12" name="Text 10"/>
          <p:cNvSpPr txBox="1"/>
          <p:nvPr/>
        </p:nvSpPr>
        <p:spPr>
          <a:xfrm>
            <a:off x="1116211" y="3254127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总结与后续工作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表格与示例数据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5310" y="1227386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1265486"/>
            <a:ext cx="4057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用表格比较具有相同定义和单位的指标。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575310" y="1614488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1652587"/>
            <a:ext cx="42767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以下为排版示例数据，不是真实实验结果。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00994" y="2325439"/>
            <a:ext cx="5142012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8"/>
          <p:cNvSpPr/>
          <p:nvPr/>
        </p:nvSpPr>
        <p:spPr>
          <a:xfrm>
            <a:off x="2000994" y="4078039"/>
            <a:ext cx="5142012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1" name="Shape 9"/>
          <p:cNvSpPr/>
          <p:nvPr/>
        </p:nvSpPr>
        <p:spPr>
          <a:xfrm>
            <a:off x="2000994" y="2763589"/>
            <a:ext cx="1104900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53394" y="2439739"/>
            <a:ext cx="914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示例方案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3105894" y="2763589"/>
            <a:ext cx="1471613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43994" y="2439739"/>
            <a:ext cx="12811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参数量（M）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4577507" y="2763589"/>
            <a:ext cx="1460599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5607" y="2439739"/>
            <a:ext cx="12700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计算量（G）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6038106" y="2763589"/>
            <a:ext cx="1104900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76206" y="2439739"/>
            <a:ext cx="914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示例得分</a:t>
            </a:r>
            <a:endParaRPr lang="en-US" sz="1575" dirty="0"/>
          </a:p>
        </p:txBody>
      </p:sp>
      <p:sp>
        <p:nvSpPr>
          <p:cNvPr id="19" name="Text 17"/>
          <p:cNvSpPr txBox="1"/>
          <p:nvPr/>
        </p:nvSpPr>
        <p:spPr>
          <a:xfrm>
            <a:off x="2153394" y="2882652"/>
            <a:ext cx="70336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A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3921472" y="2882652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</a:t>
            </a:r>
            <a:endParaRPr lang="en-US" sz="1575" dirty="0"/>
          </a:p>
        </p:txBody>
      </p:sp>
      <p:sp>
        <p:nvSpPr>
          <p:cNvPr id="21" name="Text 19"/>
          <p:cNvSpPr txBox="1"/>
          <p:nvPr/>
        </p:nvSpPr>
        <p:spPr>
          <a:xfrm>
            <a:off x="5493246" y="2882652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575" dirty="0"/>
          </a:p>
        </p:txBody>
      </p:sp>
      <p:sp>
        <p:nvSpPr>
          <p:cNvPr id="22" name="Text 20"/>
          <p:cNvSpPr txBox="1"/>
          <p:nvPr/>
        </p:nvSpPr>
        <p:spPr>
          <a:xfrm>
            <a:off x="6486971" y="2882652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1575" dirty="0"/>
          </a:p>
        </p:txBody>
      </p:sp>
      <p:sp>
        <p:nvSpPr>
          <p:cNvPr id="23" name="Text 21"/>
          <p:cNvSpPr txBox="1"/>
          <p:nvPr/>
        </p:nvSpPr>
        <p:spPr>
          <a:xfrm>
            <a:off x="2153394" y="3316039"/>
            <a:ext cx="70336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B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3921472" y="3316039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1575" dirty="0"/>
          </a:p>
        </p:txBody>
      </p:sp>
      <p:sp>
        <p:nvSpPr>
          <p:cNvPr id="25" name="Text 23"/>
          <p:cNvSpPr txBox="1"/>
          <p:nvPr/>
        </p:nvSpPr>
        <p:spPr>
          <a:xfrm>
            <a:off x="5493246" y="3316039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75" dirty="0"/>
          </a:p>
        </p:txBody>
      </p:sp>
      <p:sp>
        <p:nvSpPr>
          <p:cNvPr id="26" name="Text 24"/>
          <p:cNvSpPr txBox="1"/>
          <p:nvPr/>
        </p:nvSpPr>
        <p:spPr>
          <a:xfrm>
            <a:off x="6486971" y="3316039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575" dirty="0"/>
          </a:p>
        </p:txBody>
      </p:sp>
      <p:sp>
        <p:nvSpPr>
          <p:cNvPr id="27" name="Text 25"/>
          <p:cNvSpPr txBox="1"/>
          <p:nvPr/>
        </p:nvSpPr>
        <p:spPr>
          <a:xfrm>
            <a:off x="2153394" y="3749427"/>
            <a:ext cx="7143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C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3921472" y="3749427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</a:t>
            </a:r>
            <a:endParaRPr lang="en-US" sz="1575" dirty="0"/>
          </a:p>
        </p:txBody>
      </p:sp>
      <p:sp>
        <p:nvSpPr>
          <p:cNvPr id="29" name="Text 27"/>
          <p:cNvSpPr txBox="1"/>
          <p:nvPr/>
        </p:nvSpPr>
        <p:spPr>
          <a:xfrm>
            <a:off x="5493246" y="3749427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575" dirty="0"/>
          </a:p>
        </p:txBody>
      </p:sp>
      <p:sp>
        <p:nvSpPr>
          <p:cNvPr id="30" name="Text 28"/>
          <p:cNvSpPr txBox="1"/>
          <p:nvPr/>
        </p:nvSpPr>
        <p:spPr>
          <a:xfrm>
            <a:off x="6486971" y="3749427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20859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图文并排与图片说明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199257"/>
            <a:ext cx="22574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左侧：解释观察对象</a:t>
            </a:r>
            <a:endParaRPr lang="en-US" sz="1875" dirty="0"/>
          </a:p>
        </p:txBody>
      </p:sp>
      <p:sp>
        <p:nvSpPr>
          <p:cNvPr id="6" name="Text 4"/>
          <p:cNvSpPr txBox="1"/>
          <p:nvPr/>
        </p:nvSpPr>
        <p:spPr>
          <a:xfrm>
            <a:off x="575310" y="1599307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838200" y="1637407"/>
            <a:ext cx="20859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保留原始图片比例。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575310" y="1986409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9" name="Text 7"/>
          <p:cNvSpPr txBox="1"/>
          <p:nvPr/>
        </p:nvSpPr>
        <p:spPr>
          <a:xfrm>
            <a:off x="838200" y="2024509"/>
            <a:ext cx="25241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用图注交代来源和含义。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575310" y="2373511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2411611"/>
            <a:ext cx="27432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右图仅用于演示图文排版。</a:t>
            </a:r>
            <a:endParaRPr lang="en-US" sz="1725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2817763"/>
            <a:ext cx="3819525" cy="456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图片来自上游模板的 demo.jpg，不代表任何研究结论。</a:t>
            </a:r>
            <a:endParaRPr lang="en-US" sz="1350" dirty="0"/>
          </a:p>
        </p:txBody>
      </p:sp>
      <p:pic>
        <p:nvPicPr>
          <p:cNvPr id="13" name="Image 0" descr="上游模板的校园长椅示例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95" y="1284982"/>
            <a:ext cx="3640336" cy="24288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29101" y="3818632"/>
            <a:ext cx="24861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1：示例图片，保持原始比例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公式与符号说明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79834"/>
            <a:ext cx="31813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以下公式仅用于展示公式排版。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649141" y="1119336"/>
            <a:ext cx="3845570" cy="1280517"/>
          </a:xfrm>
          <a:prstGeom prst="roundRect">
            <a:avLst>
              <a:gd name="adj" fmla="val 13389"/>
            </a:avLst>
          </a:prstGeom>
          <a:solidFill>
            <a:srgbClr val="E8EDF3"/>
          </a:solidFill>
          <a:ln w="9525">
            <a:solidFill>
              <a:srgbClr val="C4D0E3"/>
            </a:solidFill>
            <a:prstDash val="solid"/>
          </a:ln>
        </p:spPr>
      </p:sp>
      <p:pic>
        <p:nvPicPr>
          <p:cNvPr id="7" name="Image 0" descr="Rendered as an image because of CSS m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416" y="1347936"/>
            <a:ext cx="3255020" cy="8233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5310" y="2685604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pic>
        <p:nvPicPr>
          <p:cNvPr id="9" name="Image 1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5604"/>
            <a:ext cx="201811" cy="314325"/>
          </a:xfrm>
          <a:prstGeom prst="rect">
            <a:avLst/>
          </a:prstGeom>
        </p:spPr>
      </p:pic>
      <p:pic>
        <p:nvPicPr>
          <p:cNvPr id="10" name="Image 2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32" y="2685604"/>
            <a:ext cx="91529" cy="3143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40011" y="2723704"/>
            <a:ext cx="229924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：第 </a:t>
            </a:r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项的示例分数。</a:t>
            </a:r>
            <a:endParaRPr lang="en-US" sz="1725" dirty="0"/>
          </a:p>
        </p:txBody>
      </p:sp>
      <p:sp>
        <p:nvSpPr>
          <p:cNvPr id="12" name="Text 7"/>
          <p:cNvSpPr txBox="1"/>
          <p:nvPr/>
        </p:nvSpPr>
        <p:spPr>
          <a:xfrm>
            <a:off x="575310" y="3072705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pic>
        <p:nvPicPr>
          <p:cNvPr id="13" name="Image 3" descr="Rendered as an image because of CSS ma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72705"/>
            <a:ext cx="267295" cy="3143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05495" y="3110805"/>
            <a:ext cx="33641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：对应权重，所有权重之和为 1。</a:t>
            </a:r>
            <a:endParaRPr lang="en-US" sz="1725" dirty="0"/>
          </a:p>
        </p:txBody>
      </p:sp>
      <p:sp>
        <p:nvSpPr>
          <p:cNvPr id="15" name="Shape 9"/>
          <p:cNvSpPr/>
          <p:nvPr/>
        </p:nvSpPr>
        <p:spPr>
          <a:xfrm>
            <a:off x="3493889" y="3697932"/>
            <a:ext cx="2156222" cy="1113532"/>
          </a:xfrm>
          <a:prstGeom prst="roundRect">
            <a:avLst>
              <a:gd name="adj" fmla="val 10265"/>
            </a:avLst>
          </a:prstGeom>
          <a:solidFill>
            <a:srgbClr val="F4EFF6"/>
          </a:solidFill>
          <a:ln w="9525">
            <a:solidFill>
              <a:srgbClr val="BDA8C3"/>
            </a:solidFill>
            <a:prstDash val="dash"/>
          </a:ln>
        </p:spPr>
      </p:sp>
      <p:pic>
        <p:nvPicPr>
          <p:cNvPr id="16" name="Image 4" descr="Rendered as an image because of CSS ma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164" y="3926532"/>
            <a:ext cx="1565672" cy="6563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866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信息块与文字强调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944017"/>
            <a:ext cx="4057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强调应服务于信息层级，避免整页高亮。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571500" y="1502569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B0B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12094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1C46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275" y="1578769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常规信息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581025" y="1897856"/>
            <a:ext cx="7981950" cy="405259"/>
          </a:xfrm>
          <a:prstGeom prst="rect">
            <a:avLst/>
          </a:prstGeom>
          <a:solidFill>
            <a:srgbClr val="EDF0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275" y="1983581"/>
            <a:ext cx="33147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在这里补充定义、背景或必要说明。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571500" y="2560290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DAB7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2569815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9632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275" y="2636490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注意事项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581025" y="2955578"/>
            <a:ext cx="7981950" cy="405259"/>
          </a:xfrm>
          <a:prstGeom prst="rect">
            <a:avLst/>
          </a:prstGeom>
          <a:solidFill>
            <a:srgbClr val="F7EF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275" y="3041303"/>
            <a:ext cx="3914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在这里说明实际存在的边界、风险或假设。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71500" y="3618012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E8C5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3627537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BE58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275" y="3694212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核心要点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581025" y="4013299"/>
            <a:ext cx="7981950" cy="405259"/>
          </a:xfrm>
          <a:prstGeom prst="rect">
            <a:avLst/>
          </a:prstGeom>
          <a:solidFill>
            <a:srgbClr val="FAF2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275" y="4099024"/>
            <a:ext cx="33147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在这里概括本节由证据支持的结论。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2305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算法伪代码与输入输出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571500" y="1252984"/>
            <a:ext cx="8001000" cy="95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3529459"/>
            <a:ext cx="8001000" cy="95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76846"/>
            <a:ext cx="7772400" cy="9525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376809"/>
            <a:ext cx="34258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1：批次均值（排版示例）</a:t>
            </a:r>
            <a:endParaRPr lang="en-US" sz="1575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62571"/>
            <a:ext cx="219223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Input：</a:t>
            </a:r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非空数值列表 X</a:t>
            </a:r>
            <a:endParaRPr lang="en-US" sz="1575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00709"/>
            <a:ext cx="33590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Output：</a:t>
            </a:r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中所有数值的算术平均值</a:t>
            </a:r>
            <a:endParaRPr lang="en-US" sz="1575" dirty="0"/>
          </a:p>
        </p:txBody>
      </p:sp>
      <p:sp>
        <p:nvSpPr>
          <p:cNvPr id="11" name="Text 9"/>
          <p:cNvSpPr txBox="1"/>
          <p:nvPr/>
        </p:nvSpPr>
        <p:spPr>
          <a:xfrm>
            <a:off x="750570" y="2410271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2448371"/>
            <a:ext cx="15702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sum ← 0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750570" y="2757934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endParaRPr lang="en-US" sz="1575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2796034"/>
            <a:ext cx="350966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对列表 X 中的每个 x：sum ← sum + x</a:t>
            </a:r>
            <a:endParaRPr lang="en-US" sz="1575" dirty="0"/>
          </a:p>
        </p:txBody>
      </p:sp>
      <p:sp>
        <p:nvSpPr>
          <p:cNvPr id="15" name="Text 13"/>
          <p:cNvSpPr txBox="1"/>
          <p:nvPr/>
        </p:nvSpPr>
        <p:spPr>
          <a:xfrm>
            <a:off x="750570" y="3105596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990600" y="3143696"/>
            <a:ext cx="19262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 sum / length(X)</a:t>
            </a:r>
            <a:endParaRPr lang="en-US" sz="1575" dirty="0"/>
          </a:p>
        </p:txBody>
      </p:sp>
      <p:sp>
        <p:nvSpPr>
          <p:cNvPr id="17" name="Text 15"/>
          <p:cNvSpPr txBox="1"/>
          <p:nvPr/>
        </p:nvSpPr>
        <p:spPr>
          <a:xfrm>
            <a:off x="571500" y="3758059"/>
            <a:ext cx="42291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示例假设输入列表非空；实际使用时应明确输入边界。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4682B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0A28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6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10000" y="2143125"/>
            <a:ext cx="163830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致谢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TemplateMC 通用科研汇报</dc:title>
  <dc:subject>PptxGenJS Presentation</dc:subject>
  <dc:creator>Your Name</dc:creator>
  <cp:lastModifiedBy>Your Name</cp:lastModifiedBy>
  <cp:revision>1</cp:revision>
  <dcterms:created xsi:type="dcterms:W3CDTF">2026-10-15T08:28:06Z</dcterms:created>
  <dcterms:modified xsi:type="dcterms:W3CDTF">2026-10-15T08:28:06Z</dcterms:modified>
</cp:coreProperties>
</file>